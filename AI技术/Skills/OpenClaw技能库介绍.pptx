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Awesome OpenClaw Skills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65FB"/>
                </a:solidFill>
              </a:rPr>
              <a:t>中文官方技能库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翻译自 Clawdbot 官方技能库，持续同步更新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所有技能已适配中文指令，可直接在 OpenClaw 中调用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支持 QQ、企业微信、飞书、钉钉、本地客户端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695B"/>
                </a:solidFill>
              </a:rPr>
              <a:t>OpenClaw 官方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来源: clawdhub.com/skills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技能分类概览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4114800" cy="1097280"/>
          </a:xfrm>
          <a:prstGeom prst="rect">
            <a:avLst/>
          </a:prstGeom>
          <a:solidFill>
            <a:srgbClr val="2D1F3D">
              <a:alpha val="50000"/>
            </a:srgbClr>
          </a:solidFill>
          <a:ln w="254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办公自动化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邮件、日历、文档、CRM、会议协作、笔记知识库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1097280"/>
          </a:xfrm>
          <a:prstGeom prst="rect">
            <a:avLst/>
          </a:prstGeom>
          <a:solidFill>
            <a:srgbClr val="2D1F3D">
              <a:alpha val="50000"/>
            </a:srgbClr>
          </a:solidFill>
          <a:ln w="2540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系统工具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文件管理、系统监控、网络工具、自动化、安全、媒体处理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2468880"/>
            <a:ext cx="4114800" cy="1097280"/>
          </a:xfrm>
          <a:prstGeom prst="rect">
            <a:avLst/>
          </a:prstGeom>
          <a:solidFill>
            <a:srgbClr val="2D1F3D">
              <a:alpha val="50000"/>
            </a:srgbClr>
          </a:solidFill>
          <a:ln w="25400">
            <a:solidFill>
              <a:srgbClr val="6B8E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开发运维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代码开发、CI/CD、数据库、云平台、监控日志、API集成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4114800" cy="1097280"/>
          </a:xfrm>
          <a:prstGeom prst="rect">
            <a:avLst/>
          </a:prstGeom>
          <a:solidFill>
            <a:srgbClr val="2D1F3D">
              <a:alpha val="50000"/>
            </a:srgbClr>
          </a:solidFill>
          <a:ln w="25400">
            <a:solidFill>
              <a:srgbClr val="20B2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其他领域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2788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AI搜索、社交媒体、金融交易、健康生活、娱乐游戏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共 500+ 官方技能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办公自动化技能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474720" cy="411480"/>
          </a:xfrm>
          <a:prstGeom prst="rect">
            <a:avLst/>
          </a:prstGeom>
          <a:solidFill>
            <a:srgbClr val="B165FB">
              <a:alpha val="15000"/>
            </a:srgbClr>
          </a:solidFill>
          <a:ln w="12700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邮件管理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AgentMail、Outlook、Gmail、ProtonMail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474720" cy="411480"/>
          </a:xfrm>
          <a:prstGeom prst="rect">
            <a:avLst/>
          </a:prstGeom>
          <a:solidFill>
            <a:srgbClr val="B165FB">
              <a:alpha val="15000"/>
            </a:srgbClr>
          </a:solidFill>
          <a:ln w="12700">
            <a:solidFill>
              <a:srgbClr val="B165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日历日程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Google Calendar、Apple日历、会议安排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474720" cy="411480"/>
          </a:xfrm>
          <a:prstGeom prst="rect">
            <a:avLst/>
          </a:prstGeom>
          <a:solidFill>
            <a:srgbClr val="B165FB">
              <a:alpha val="15000"/>
            </a:srgbClr>
          </a:solidFill>
          <a:ln w="12700">
            <a:solidFill>
              <a:srgbClr val="B16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文档处理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PDF解析、Excel仪表板、文档生成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3474720" cy="411480"/>
          </a:xfrm>
          <a:prstGeom prst="rect">
            <a:avLst/>
          </a:prstGeom>
          <a:solidFill>
            <a:srgbClr val="B165FB">
              <a:alpha val="15000"/>
            </a:srgbClr>
          </a:solidFill>
          <a:ln w="12700">
            <a:solidFill>
              <a:srgbClr val="B16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CRM客户管理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Salesforce、Dex CRM、联系人数据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474720" cy="411480"/>
          </a:xfrm>
          <a:prstGeom prst="rect">
            <a:avLst/>
          </a:prstGeom>
          <a:solidFill>
            <a:srgbClr val="B165FB">
              <a:alpha val="15000"/>
            </a:srgbClr>
          </a:solidFill>
          <a:ln w="12700">
            <a:solidFill>
              <a:srgbClr val="B165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笔记知识库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Obsidian、Notion、笔记搜索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914400"/>
            <a:ext cx="3474720" cy="2560320"/>
          </a:xfrm>
          <a:prstGeom prst="rect">
            <a:avLst/>
          </a:prstGeom>
          <a:solidFill>
            <a:srgbClr val="40695B">
              <a:alpha val="15000"/>
            </a:srgbClr>
          </a:solidFill>
          <a:ln w="12700">
            <a:solidFill>
              <a:srgbClr val="406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0695B"/>
                </a:solidFill>
              </a:rPr>
              <a:t>热门技能示例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1325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• AgentMail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1325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AI客服专用邮件平台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091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• Gcal Pro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Google日历集成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• Salesforce DX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5780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SOQL查询、管道分析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916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</a:rPr>
              <a:t>• 晨间邮件汇总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每日8点自动汇总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办公自动化 | 100+ 技能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系统工具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743200" cy="822960"/>
          </a:xfrm>
          <a:prstGeom prst="rect">
            <a:avLst/>
          </a:prstGeom>
          <a:solidFill>
            <a:srgbClr val="40695B">
              <a:alpha val="15000"/>
            </a:srgbClr>
          </a:solidFill>
          <a:ln w="12700">
            <a:solidFill>
              <a:srgbClr val="406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文件管理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本地搜索、备份脚本、文档解析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914400"/>
            <a:ext cx="2743200" cy="822960"/>
          </a:xfrm>
          <a:prstGeom prst="rect">
            <a:avLst/>
          </a:prstGeom>
          <a:solidFill>
            <a:srgbClr val="40695B">
              <a:alpha val="15000"/>
            </a:srgbClr>
          </a:solidFill>
          <a:ln w="12700">
            <a:solidFill>
              <a:srgbClr val="4069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960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系统监控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深度工作追踪、健康数据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914400"/>
            <a:ext cx="2743200" cy="822960"/>
          </a:xfrm>
          <a:prstGeom prst="rect">
            <a:avLst/>
          </a:prstGeom>
          <a:solidFill>
            <a:srgbClr val="40695B">
              <a:alpha val="15000"/>
            </a:srgbClr>
          </a:solidFill>
          <a:ln w="12700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960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网络工具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Tailscale、交通查询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2743200" cy="822960"/>
          </a:xfrm>
          <a:prstGeom prst="rect">
            <a:avLst/>
          </a:prstGeom>
          <a:solidFill>
            <a:srgbClr val="40695B">
              <a:alpha val="15000"/>
            </a:srgbClr>
          </a:solidFill>
          <a:ln w="12700">
            <a:solidFill>
              <a:srgbClr val="4069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自动化工具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Cron表达式、自动更新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1920240"/>
            <a:ext cx="2743200" cy="822960"/>
          </a:xfrm>
          <a:prstGeom prst="rect">
            <a:avLst/>
          </a:prstGeom>
          <a:solidFill>
            <a:srgbClr val="40695B">
              <a:alpha val="15000"/>
            </a:srgbClr>
          </a:solidFill>
          <a:ln w="12700">
            <a:solidFill>
              <a:srgbClr val="4069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安全工具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118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Bitwarden、安全审计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2743200" cy="822960"/>
          </a:xfrm>
          <a:prstGeom prst="rect">
            <a:avLst/>
          </a:prstGeom>
          <a:solidFill>
            <a:srgbClr val="40695B">
              <a:alpha val="15000"/>
            </a:srgbClr>
          </a:solidFill>
          <a:ln w="12700">
            <a:solidFill>
              <a:srgbClr val="406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媒体处理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FFmpeg、视频编辑、音频转录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solidFill>
            <a:srgbClr val="B165FB">
              <a:alpha val="15000"/>
            </a:srgbClr>
          </a:solidFill>
          <a:ln w="25400">
            <a:solidFill>
              <a:srgbClr val="B165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热门推荐：本地文档搜索(gno) • Faster Whisper(快4-6倍) • Deep Work Tracker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系统工具 | 120+ 技能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B8E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开发运维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40480" cy="411480"/>
          </a:xfrm>
          <a:prstGeom prst="rect">
            <a:avLst/>
          </a:prstGeom>
          <a:solidFill>
            <a:srgbClr val="6B8E23">
              <a:alpha val="15000"/>
            </a:srgbClr>
          </a:solidFill>
          <a:ln w="12700">
            <a:solidFill>
              <a:srgbClr val="6B8E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代码开发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GitHub集成、代码审查、AgentLens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411480"/>
          </a:xfrm>
          <a:prstGeom prst="rect">
            <a:avLst/>
          </a:prstGeom>
          <a:solidFill>
            <a:srgbClr val="6B8E23">
              <a:alpha val="15000"/>
            </a:srgbClr>
          </a:solidFill>
          <a:ln w="12700">
            <a:solidFill>
              <a:srgbClr val="6B8E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部署与CI/CD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Fly.io、Kubernetes、Docker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840480" cy="411480"/>
          </a:xfrm>
          <a:prstGeom prst="rect">
            <a:avLst/>
          </a:prstGeom>
          <a:solidFill>
            <a:srgbClr val="6B8E23">
              <a:alpha val="15000"/>
            </a:srgbClr>
          </a:solidFill>
          <a:ln w="12700">
            <a:solidFill>
              <a:srgbClr val="6B8E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数据库管理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PostgreSQL、Supabase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3840480" cy="411480"/>
          </a:xfrm>
          <a:prstGeom prst="rect">
            <a:avLst/>
          </a:prstGeom>
          <a:solidFill>
            <a:srgbClr val="6B8E23">
              <a:alpha val="15000"/>
            </a:srgbClr>
          </a:solidFill>
          <a:ln w="12700">
            <a:solidFill>
              <a:srgbClr val="6B8E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云平台管理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AWS、Azure、GCP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840480" cy="411480"/>
          </a:xfrm>
          <a:prstGeom prst="rect">
            <a:avLst/>
          </a:prstGeom>
          <a:solidFill>
            <a:srgbClr val="6B8E23">
              <a:alpha val="15000"/>
            </a:srgbClr>
          </a:solidFill>
          <a:ln w="12700">
            <a:solidFill>
              <a:srgbClr val="6B8E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监控与日志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</a:rPr>
              <a:t>日志分析、性能监控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3291840" cy="2377440"/>
          </a:xfrm>
          <a:prstGeom prst="rect">
            <a:avLst/>
          </a:prstGeom>
          <a:solidFill>
            <a:srgbClr val="20B2AA">
              <a:alpha val="15000"/>
            </a:srgbClr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B2AA"/>
                </a:solidFill>
              </a:rPr>
              <a:t>核心技能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Kubernetes管理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全面K8s管理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Fly.io CLI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一键部署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GitHub PR Tool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本地测试PR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204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Supabase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向量搜索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436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开发运维 | 150+ 技能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0B2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其他领域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40480" cy="502920"/>
          </a:xfrm>
          <a:prstGeom prst="rect">
            <a:avLst/>
          </a:prstGeom>
          <a:solidFill>
            <a:srgbClr val="20B2AA">
              <a:alpha val="15000"/>
            </a:srgbClr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AI与搜索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Perplexity、Tavily、多LLM集成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840480" cy="502920"/>
          </a:xfrm>
          <a:prstGeom prst="rect">
            <a:avLst/>
          </a:prstGeom>
          <a:solidFill>
            <a:srgbClr val="20B2AA">
              <a:alpha val="15000"/>
            </a:srgbClr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社交媒体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Postiz、X发布、LinkedIn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840480" cy="502920"/>
          </a:xfrm>
          <a:prstGeom prst="rect">
            <a:avLst/>
          </a:prstGeom>
          <a:solidFill>
            <a:srgbClr val="20B2AA">
              <a:alpha val="15000"/>
            </a:srgbClr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金融与交易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Polymarket、比特币、加密钱包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840480" cy="502920"/>
          </a:xfrm>
          <a:prstGeom prst="rect">
            <a:avLst/>
          </a:prstGeom>
          <a:solidFill>
            <a:srgbClr val="20B2AA">
              <a:alpha val="15000"/>
            </a:srgbClr>
          </a:solidFill>
          <a:ln w="12700">
            <a:solidFill>
              <a:srgbClr val="20B2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健康与生活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饮食追踪、健身数据、习惯养成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291840" cy="2011680"/>
          </a:xfrm>
          <a:prstGeom prst="rect">
            <a:avLst/>
          </a:prstGeom>
          <a:solidFill>
            <a:srgbClr val="B165FB">
              <a:alpha val="15000"/>
            </a:srgbClr>
          </a:solidFill>
          <a:ln w="12700">
            <a:solidFill>
              <a:srgbClr val="B165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65FB"/>
                </a:solidFill>
              </a:rPr>
              <a:t>特色技能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Polymarket预测市场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527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AI电话呼叫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81965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智能购物专家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122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车辆维护跟踪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4048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信用卡奖励优化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其他领域 | 130+ 技能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使用说明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65FB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在OpenClaw中加载技能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发送自然语言指令即可加载技能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1508760"/>
            <a:ext cx="365760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581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A6FF"/>
                </a:solidFill>
              </a:rPr>
              <a:t>加载技能：邮件自动发送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695B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命令行安装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通过openclaw CLI从官方库安装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2514600"/>
            <a:ext cx="365760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877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8A6FF"/>
                </a:solidFill>
              </a:rPr>
              <a:t>openclaw skill install [URL]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E23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直接调用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所有技能支持中文指令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3520440"/>
            <a:ext cx="365760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593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8A6FF"/>
                </a:solidFill>
              </a:rPr>
              <a:t>帮我发送邮件 / 查看日历 / 搜索GitHub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0" y="914400"/>
            <a:ext cx="3017520" cy="2560320"/>
          </a:xfrm>
          <a:prstGeom prst="rect">
            <a:avLst/>
          </a:prstGeom>
          <a:solidFill>
            <a:srgbClr val="B165FB">
              <a:alpha val="15000"/>
            </a:srgbClr>
          </a:solidFill>
          <a:ln w="12700">
            <a:solidFill>
              <a:srgbClr val="B165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65FB"/>
                </a:solidFill>
              </a:rPr>
              <a:t>支持平台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即时通讯：QQ • 企业微信 • 飞书 • 钉钉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本地：macOS • Windows • Linux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来源：clawdhub.com/skills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更新：持续同步官方库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开始使用OpenClaw技能库，提升工作效率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2026-03-14T14:09:58Z</dcterms:created>
  <dcterms:modified xsi:type="dcterms:W3CDTF">2026-03-14T14:09:58Z</dcterms:modified>
</cp:coreProperties>
</file>